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Acquirer fee per gallon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&quot;RD$&quot;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02B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Low case (1.95%)</c:v>
                  </c:pt>
                  <c:pt idx="1">
                    <c:v>High case (2.50%)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6.59</c:v>
                </c:pt>
                <c:pt idx="1">
                  <c:v>8.45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Remaining gross margin</c:v>
                </c:pt>
              </c:strCache>
            </c:strRef>
          </c:tx>
          <c:spPr>
            <a:solidFill>
              <a:srgbClr val="DDE3EA"/>
            </a:solidFill>
            <a:effectLst/>
          </c:spPr>
          <c:invertIfNegative val="0"/>
          <c:dLbls>
            <c:numFmt formatCode="&quot;RD$&quot;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02B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Low case (1.95%)</c:v>
                  </c:pt>
                  <c:pt idx="1">
                    <c:v>High case (2.50%)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18.41</c:v>
                </c:pt>
                <c:pt idx="1">
                  <c:v>16.55</c:v>
                </c:pt>
              </c:numCache>
            </c:numRef>
          </c:val>
        </c:ser>
        <c:dLbls>
          <c:numFmt formatCode="&quot;RD$&quot;0.00" sourceLinked="0"/>
          <c:txPr>
            <a:bodyPr/>
            <a:lstStyle/>
            <a:p>
              <a:pPr>
                <a:defRPr b="0" i="0" strike="noStrike" sz="1100" u="none">
                  <a:solidFill>
                    <a:srgbClr val="16202B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b"/>
        <c:majorGridlines>
          <c:spPr>
            <a:ln w="6350" cap="flat">
              <a:solidFill>
                <a:srgbClr val="EEF2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556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44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2440"/>
                </a:solidFill>
                <a:latin typeface="Arial"/>
              </a:rPr>
              <a:t>Card transactions per year (millions)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Card transactions (millions)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0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2008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117</c:v>
                </c:pt>
                <c:pt idx="1">
                  <c:v>806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0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0"/>
        </c:scaling>
        <c:delete val="0"/>
        <c:axPos val="l"/>
        <c:majorGridlines>
          <c:spPr>
            <a:ln w="6350" cap="flat">
              <a:solidFill>
                <a:srgbClr val="EEF2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44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2440"/>
                </a:solidFill>
                <a:latin typeface="Arial"/>
              </a:rPr>
              <a:t>Annual card volume by cohort size (RD$ millions)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card volume (RD$ MM)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0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10 stations</c:v>
                  </c:pt>
                  <c:pt idx="1">
                    <c:v>20 stations</c:v>
                  </c:pt>
                  <c:pt idx="2">
                    <c:v>40 stations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396</c:v>
                </c:pt>
                <c:pt idx="1">
                  <c:v>792</c:v>
                </c:pt>
                <c:pt idx="2">
                  <c:v>1584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0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2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Frame the meeting: we are asking for sponsorship of a vertical acquiring program, we bring a launch cohort of 20 stations and a pricing model the segment has publicly asked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to 90 seconds. The rest of the deck is evidence for these three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Listín Diario 30 Jun 2026; Diario Libre 2, 5, 6, 7, 8 and 20 Jul 2026; Infobae 8 Jul 2026. Full list in the appendix.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Retail price and retailer margin are fixed weekly by the Ministry (MICM). A percentage fee therefore rises with pump prices while the margin does not. Bars use ANADEGAS per-gallon figures against a RD$25 margin.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elDinero (BCRD) for 2008/2025 transaction counts; Invertix (BCRD) for 2025 value and instrument shares; Infobae 25 Apr 2026 for Q1 2026 bulletin figures; Diario Libre 4 Dec 2025 for cash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per-station figure is a national average; Polígono Central sites are expected to run above it. Use it only as the basis for the scenario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list compiled from public map listings on 8 Sep 2026. The polygon is an approximation of the four avenues. Interactive version at /zona/ on the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Distances measured from the reference centre 18.4690, -69.9295. Coordinates and Google Maps links are in the CSV/GeoJSON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Distances measured from the reference centre 18.4690, -69.9295. Coordinates and Google Maps links are in the CSV/GeoJSON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Settlement (step 3) is highlighted because it is where the bank's control sits: the program account is the bank's, reserves are set with the bank, and Wallet Partners never holds merchant funds outside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matrix is the starting point for the sponsorship term sheet. Rows can move; the principle is that the bank keeps approval, funds and oversight.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Fleet and loyalty are deliberately phase two: they need the acquiring rails live first and they are where the bank's issuing side can participate.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20-station case only; the 10 and 40 cases show sensitivity. Emphasise that pricing per gallon can land below today's effective rate for the station while still clearing interchange.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 set available under NDA: AML programme and risk assessment, sanctions procedure, underwriting policy and file template, fuel monitoring rule set, infosec policies and PCI plan, privacy programme, BCP/IR plans, draft sponsorship term sheet and reserve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10-business-day merchant approval SLA is what keeps weeks 3–8 on schedule.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agreeing the date for the working session and who from the bank attends.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Clickable versions of every source are on the website (docs/DATA.md in the repository lists them with URLs).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Family-Pharmacy/site/assets/img/hero-station.jp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rcRect l="0" r="0" t="0" b="0"/>
          <a:stretch/>
        </p:blipFill>
        <p:spPr>
          <a:xfrm>
            <a:off x="6309360" y="0"/>
            <a:ext cx="58795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09360" y="0"/>
            <a:ext cx="822960" cy="6858000"/>
          </a:xfrm>
          <a:prstGeom prst="rect">
            <a:avLst/>
          </a:prstGeom>
          <a:solidFill>
            <a:srgbClr val="0F2440">
              <a:alpha val="85000"/>
            </a:srgbClr>
          </a:solidFill>
          <a:ln w="12700">
            <a:solidFill>
              <a:srgbClr val="0F2440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SPONSOR-BANK BRIEFING · DOMINICAN REPUBLIC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acceptance built for gasoline stations.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FE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per-gallon acquiring program for the Dominican Republic, operated by Wallet Partners LLC under the sponsorship of a licensed member bank.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Partners LLC  ·  September 2026  ·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Partners LLC · Sponsor-bank briefing · September 2026 · Confidential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take away from this briefing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6974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July 2026 fuel retailers (ANADEGAS) threatened to pull card terminals from 780+ stations over 1.95–2.50% fees.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fees equal RD$6.59–8.45 per gallon: 25–36% of a State-set RD$25 gross margin.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Government-brokered talks with the banks are ongoing; the segment asked for per-gallon pricing.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97680" y="173736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196596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1031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1208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6974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Partners operates as payment facilitator / program manager under your membership and oversight.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Per-gallon pricing with a cap, interchange-plus statements, forecourt EMV/contactless terminals, next-day peso settlement.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cohort: 20 stations in Santo Domingo's Polígono Central, 9 of them open 24 h.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46720" y="173736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75320" y="196596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1031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96112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26974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 agreement and registration of Wallet Partners as payment facilitator.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settlement account with agreed reserves; merchant approval SLA of 10 business days.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relationship and compliance contacts. Target: first live station within one quarter.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Partners LLC · Sponsor-bank briefing · September 2026 · Confidential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moment: retailers went public on card fees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of the June–July 2026 dispute between ANADEGAS and the acquirers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10543032" cy="0"/>
          </a:xfrm>
          <a:prstGeom prst="line">
            <a:avLst/>
          </a:prstGeom>
          <a:noFill/>
          <a:ln w="25400">
            <a:solidFill>
              <a:srgbClr val="DD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2633472"/>
            <a:ext cx="310896" cy="310896"/>
          </a:xfrm>
          <a:prstGeom prst="ellipse">
            <a:avLst/>
          </a:prstGeom>
          <a:solidFill>
            <a:srgbClr val="0F244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-45720" y="310896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ANADEGAS announces members will stop accepting cards, citing 1.95–2.50% commissions.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76118" y="2633472"/>
            <a:ext cx="310896" cy="310896"/>
          </a:xfrm>
          <a:prstGeom prst="ellipse">
            <a:avLst/>
          </a:prstGeom>
          <a:solidFill>
            <a:srgbClr val="0F244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08606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Jul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062886" y="310896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Vice-President says the Government expects an agreement; press notes similar fights abroad.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84725" y="2633472"/>
            <a:ext cx="310896" cy="310896"/>
          </a:xfrm>
          <a:prstGeom prst="ellipse">
            <a:avLst/>
          </a:prstGeom>
          <a:solidFill>
            <a:srgbClr val="0F244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17213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Jul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171493" y="310896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removal of terminals from 780+ stations begins. Fees estimated at RD$584 M per month.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93331" y="2633472"/>
            <a:ext cx="310896" cy="310896"/>
          </a:xfrm>
          <a:prstGeom prst="ellipse">
            <a:avLst/>
          </a:prstGeom>
          <a:solidFill>
            <a:srgbClr val="EDA1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25819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Jul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80099" y="310896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meeting MICM and Pro Consumidor, a 30-day window is agreed. ANADEGAS proposes per-gallon or margin-based fees.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01938" y="2633472"/>
            <a:ext cx="310896" cy="310896"/>
          </a:xfrm>
          <a:prstGeom prst="ellipse">
            <a:avLst/>
          </a:prstGeom>
          <a:solidFill>
            <a:srgbClr val="0F244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34426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Jul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388706" y="310896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 Libre: card payments at stations total about RD$41 bn per year.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210544" y="2633472"/>
            <a:ext cx="310896" cy="310896"/>
          </a:xfrm>
          <a:prstGeom prst="ellipse">
            <a:avLst/>
          </a:prstGeom>
          <a:solidFill>
            <a:srgbClr val="0F244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43032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Jul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497312" y="3108960"/>
            <a:ext cx="1737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ANADEGAS and the banking sector agree to open formal talks on terminal commissions.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FF8E6"/>
          </a:solidFill>
          <a:ln w="9525">
            <a:solidFill>
              <a:srgbClr val="EDA1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349240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to a sponsor. </a:t>
            </a:r>
            <a:pPr indent="0" marL="0"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retailers' own numbers show the problem is the pricing structure, not card acceptance. A per-gallon program gives a bank a defensible way to grow fuel-segment volume while the incumbents are locked in a public dispute with the segment.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Partners LLC · Sponsor-bank briefing · September 2026 · Confidential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fees take a quarter to a third of gross margin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per gallon: acquirer fee versus what the station keeps, on a regulated gross margin of about RD$25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3736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63840" y="1737360"/>
            <a:ext cx="3776472" cy="1325880"/>
          </a:xfrm>
          <a:prstGeom prst="roundRect">
            <a:avLst>
              <a:gd name="adj" fmla="val 5517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46720" y="1847088"/>
            <a:ext cx="3410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25–36%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2377440"/>
            <a:ext cx="3410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gross margin goes to card fees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2788920"/>
            <a:ext cx="3410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ANADEGAS, July 2026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863840" y="3200400"/>
            <a:ext cx="3776472" cy="1325880"/>
          </a:xfrm>
          <a:prstGeom prst="roundRect">
            <a:avLst>
              <a:gd name="adj" fmla="val 5517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46720" y="3310128"/>
            <a:ext cx="3410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RD$6.59–8.45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3840480"/>
            <a:ext cx="3410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gallon at 1.95–2.50%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4251960"/>
            <a:ext cx="3410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Infobae / Diario Libre, Jul 2026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863840" y="4663440"/>
            <a:ext cx="3776472" cy="1325880"/>
          </a:xfrm>
          <a:prstGeom prst="roundRect">
            <a:avLst>
              <a:gd name="adj" fmla="val 5517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46720" y="4773168"/>
            <a:ext cx="3410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RD$5–6 bn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0" y="5303520"/>
            <a:ext cx="3410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yearly in commissions by stations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046720" y="5715000"/>
            <a:ext cx="3410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≈RD$584 M per month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Partners LLC · Sponsor-bank briefing · September 2026 · Confidential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card economy keeps compounding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Central data: a payments market still early in its shift from cash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3736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035040" y="1737360"/>
            <a:ext cx="2743200" cy="1389888"/>
          </a:xfrm>
          <a:prstGeom prst="roundRect">
            <a:avLst>
              <a:gd name="adj" fmla="val 5263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0" y="18470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RD$1.07 tn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23774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of card payments, 2025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28529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+12.8% year on year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915400" y="1737360"/>
            <a:ext cx="2743200" cy="1389888"/>
          </a:xfrm>
          <a:prstGeom prst="roundRect">
            <a:avLst>
              <a:gd name="adj" fmla="val 5263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098280" y="18470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63.6%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9098280" y="23774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cards' share of value settled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098280" y="28529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instruments, 2025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035040" y="3218688"/>
            <a:ext cx="2743200" cy="1389888"/>
          </a:xfrm>
          <a:prstGeom prst="roundRect">
            <a:avLst>
              <a:gd name="adj" fmla="val 5263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0" y="33284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757 / 373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38587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/ credit cards per 1,000 people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43342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915400" y="3218688"/>
            <a:ext cx="2743200" cy="1389888"/>
          </a:xfrm>
          <a:prstGeom prst="roundRect">
            <a:avLst>
              <a:gd name="adj" fmla="val 5263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98280" y="33284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19,038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9098280" y="38587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terminals per million people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9098280" y="43342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035040" y="4700016"/>
            <a:ext cx="2743200" cy="1389888"/>
          </a:xfrm>
          <a:prstGeom prst="roundRect">
            <a:avLst>
              <a:gd name="adj" fmla="val 5263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217920" y="48097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≈75%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6217920" y="534009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payments still made in cash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6217920" y="581558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 Libre, Dec 2025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8915400" y="4700016"/>
            <a:ext cx="2743200" cy="1389888"/>
          </a:xfrm>
          <a:prstGeom prst="roundRect">
            <a:avLst>
              <a:gd name="adj" fmla="val 5263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098280" y="48097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9098280" y="534009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e-payment accounts per 1,000 (from 62)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098280" y="581558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2026, +31%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Partners LLC · Sponsor-bank briefing · September 2026 · Confidential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retail: regulated, price-controlled, high volume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concentrated market with three incumbent acquirers and no vertical product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≈1,025 stations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65176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ANADEGAS estimate for the country; 780+ affiliated. MICM approved 33 new stations and LPG plants in 2024–Oct 2025 and keeps an open registry. Every new licence must pick an acquirer on day one.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97680" y="173736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196596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1031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1208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acquirers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65176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CardNET (bank-owned), AZUL (Grupo Popular, 2014) and Visanet Dominicana. All three price fuel like any other retail category; none offers gallon-based pricing, fleet cards or forecourt integration.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46720" y="173736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75320" y="1965960"/>
            <a:ext cx="548640" cy="54864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1031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96112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price setting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265176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MICM publishes retail prices every week. 2025: premium RD$290.10, regular RD$272.50 per gallon. Price and margin are fixed; the percentage fee is the only cost the station cannot control.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46320"/>
          <a:ext cx="110916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206240"/>
                <a:gridCol w="304495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payments at fuel stations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≈RD$41,000 MM per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(Diario Libre)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Commissions paid by stations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≈RD$584 MM / month; RD$5–6 bn /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(Diario Libre)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 per transaction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1.95%–2.50%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(ANADEGAS)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Implied card volume per station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≈RD$40 MM / year (≈RD$3.3 MM / month)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RD$41 bn ÷ ≈1,025 stations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Partners LLC · Sponsor-bank briefing · September 2026 · Confidential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cohort: 20 stations in one district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 Domingo's Polígono Central, bounded by Av. Kennedy, 27 de Febrero, Churchill and Máximo Gómez</a:t>
            </a:r>
            <a:endParaRPr lang="en-US" sz="1400" dirty="0"/>
          </a:p>
        </p:txBody>
      </p:sp>
      <p:pic>
        <p:nvPicPr>
          <p:cNvPr id="6" name="Image 0" descr="/home/user/Family-Pharmacy/site/assets/img/poligono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722376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0" y="1691640"/>
            <a:ext cx="3593592" cy="1188720"/>
          </a:xfrm>
          <a:prstGeom prst="roundRect">
            <a:avLst>
              <a:gd name="adj" fmla="val 6154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0" y="1801368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33172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within 2.1 km of the centre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2606040"/>
            <a:ext cx="3227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inside the polygon, 9 adjacent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046720" y="3017520"/>
            <a:ext cx="3593592" cy="1188720"/>
          </a:xfrm>
          <a:prstGeom prst="roundRect">
            <a:avLst>
              <a:gd name="adj" fmla="val 6154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0" y="3127248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365760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24 hours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3931920"/>
            <a:ext cx="3227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of the cohort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046720" y="4343400"/>
            <a:ext cx="3593592" cy="1188720"/>
          </a:xfrm>
          <a:prstGeom prst="roundRect">
            <a:avLst>
              <a:gd name="adj" fmla="val 6154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0" y="4453128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0" y="498348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brands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5257800"/>
            <a:ext cx="3227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TotalEnergies 9, Next 2, nine others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046720" y="5669280"/>
            <a:ext cx="3593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pipeline: these stations have indicated they are ready to sign once the sponsorship and merchant-of-record arrangement are in place. Merchant files are being assembled to the bank's standard.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Partners LLC · Sponsor-bank briefing · September 2026 · Confidential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cohort: station list (1 of 2)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and phones from public listings; re-verified during onboarding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651760"/>
                <a:gridCol w="1234440"/>
                <a:gridCol w="2743200"/>
                <a:gridCol w="1188720"/>
                <a:gridCol w="1371600"/>
                <a:gridCol w="896112"/>
                <a:gridCol w="6400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Estación de Gasolina La Lira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Independiente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Av. Lope de Vega Esq.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Abierto 24 horas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TotalEnergies La 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TotalEnergies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Av. 27 de Febrero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(809) 227-4300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Abierto 24 horas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TotalEnergies Tiradentes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TotalEnergies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Av. Tiradentes 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(829) 745-3201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Abierto 24 horas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• Lincoln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Av. Abraham Lincoln 504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Abierto 24 horas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TotalEnergies On The Boulevard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TotalEnergies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Av. Winston Churchill 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(809) 567-0441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Cierra 10:00 p.m.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Axxon • Bella Vista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Axxon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Av. Enrique Jiménez Moya (F359+82G)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(809) 532-0880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Abierto 24 horas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Adjacent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Tropigás Piantini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Tropigás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Paseo de los Locutores 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Abierto 24 horas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TotalEnergies Millennium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TotalEnergies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Av. Rómulo Betancourt 267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(809) 563-5058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Cierra 12:00 a.m.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TotalEnergies Paraíso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TotalEnergies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Av. Winston Churchill 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(809) 567-7737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Abierto 24 horas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TotalEnergies La Kennedy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TotalEnergies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Av. John F. Kennedy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(809) 227-4300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Abierto 24 horas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Adjacent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Partners LLC · Sponsor-bank briefing · September 2026 · Confidential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cohort: station list (2 of 2)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and phones from public listings; re-verified during onboarding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651760"/>
                <a:gridCol w="1234440"/>
                <a:gridCol w="2743200"/>
                <a:gridCol w="1188720"/>
                <a:gridCol w="1371600"/>
                <a:gridCol w="896112"/>
                <a:gridCol w="6400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(Bernardo Correa y Cidrón)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Av. Dr. Bernardo Correa y Cidrón (F34F+5V6)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Cierra 11:55 p.m.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Adjacent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TotalEnergies Mega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TotalEnergies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Av. Lope de Vega Esq.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(809) 567-2870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Abierto 24 horas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Adjacent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TotalEnergies San Martín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TotalEnergies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Av. San Martín esq. Tiradentes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(809) 227-4300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Cierra 10:00 p.m.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Adjacent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Racing Store Santo Domingo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Racing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Emile Boyrie de Moya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(809) 692-5745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Cierra 5:00 p.m.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Óptimo Gas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Óptimo Gas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Rafael Augusto Sánchez 114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(849) 876-5977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Cierra 11:00 p.m.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Adjacent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Texaco (Av. Máximo Gómez / F3CQ+24P)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Texaco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F3CQ+24P, Santo Domingo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(809) 682-6899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Cierra 12:00 a.m.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Adjacent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Trovasa Hand Wash &amp; Store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Trovasa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Av. 27 de Febrero 349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(809) 566-4313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Cierra 9:30 p.m.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Shell (27 de Febrero)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Av. 27 de Febrero 349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(809) 542-4752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Cierra 8:00 p.m.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Sigma 27 de Febrero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Av. 27 de Febrero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(809) 530-8531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Cierra 12:00 a.m.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Adjacent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TotalEnergies Quisqueya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TotalEnergies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Av. Máximo Gómez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(809) 686-7204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Cierra 11:00 p.m.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Adjacent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Partners LLC · Sponsor-bank briefing · September 2026 · Confidential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transaction flows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Partners runs the merchant side; the sponsoring bank holds membership, funds and oversight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925726" cy="3931920"/>
          </a:xfrm>
          <a:prstGeom prst="roundRect">
            <a:avLst>
              <a:gd name="adj" fmla="val 4748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65960"/>
            <a:ext cx="502920" cy="50292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2091690"/>
            <a:ext cx="251460" cy="2514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925726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651760"/>
            <a:ext cx="1559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pays at the forecourt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429000"/>
            <a:ext cx="155996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Attendant keys the sale or the pump controller pushes it to a wireless EMV/contactless terminal. Stripe disabled by policy.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492654" y="35204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9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2840126" y="1783080"/>
            <a:ext cx="1925726" cy="3931920"/>
          </a:xfrm>
          <a:prstGeom prst="roundRect">
            <a:avLst>
              <a:gd name="adj" fmla="val 4748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023006" y="1965960"/>
            <a:ext cx="502920" cy="50292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736" y="2091690"/>
            <a:ext cx="251460" cy="2514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217213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3023006" y="2651760"/>
            <a:ext cx="1559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Authorisation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3023006" y="3429000"/>
            <a:ext cx="155996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P2PE-encrypted transaction goes through our certified gateway to the bank's acquiring host and on to Visa, Mastercard or domestic debit under the bank's BINs.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4784141" y="35204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9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0" name="Shape 16"/>
          <p:cNvSpPr/>
          <p:nvPr/>
        </p:nvSpPr>
        <p:spPr>
          <a:xfrm>
            <a:off x="5131613" y="1783080"/>
            <a:ext cx="1925726" cy="3931920"/>
          </a:xfrm>
          <a:prstGeom prst="roundRect">
            <a:avLst>
              <a:gd name="adj" fmla="val 4748"/>
            </a:avLst>
          </a:prstGeom>
          <a:solidFill>
            <a:srgbClr val="0F2440"/>
          </a:solidFill>
          <a:ln w="9525">
            <a:solidFill>
              <a:srgbClr val="0F244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314493" y="1965960"/>
            <a:ext cx="502920" cy="50292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223" y="2091690"/>
            <a:ext cx="251460" cy="25146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508699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5314493" y="2651760"/>
            <a:ext cx="1559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5314493" y="3429000"/>
            <a:ext cx="155996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FE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settle to the bank's program account. We pay each station next business day in pesos, net of the per-gallon fee.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7075627" y="35204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9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7" name="Shape 22"/>
          <p:cNvSpPr/>
          <p:nvPr/>
        </p:nvSpPr>
        <p:spPr>
          <a:xfrm>
            <a:off x="7423099" y="1783080"/>
            <a:ext cx="1925726" cy="3931920"/>
          </a:xfrm>
          <a:prstGeom prst="roundRect">
            <a:avLst>
              <a:gd name="adj" fmla="val 4748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605979" y="1965960"/>
            <a:ext cx="502920" cy="50292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1709" y="2091690"/>
            <a:ext cx="251460" cy="25146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800186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7605979" y="2651760"/>
            <a:ext cx="1559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400" dirty="0"/>
          </a:p>
        </p:txBody>
      </p:sp>
      <p:sp>
        <p:nvSpPr>
          <p:cNvPr id="32" name="Text 26"/>
          <p:cNvSpPr txBox="1"/>
          <p:nvPr/>
        </p:nvSpPr>
        <p:spPr>
          <a:xfrm>
            <a:off x="7605979" y="3429000"/>
            <a:ext cx="155996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reconcile by shift and pump; the bank gets portfolio dashboards, exception reports and regulatory data.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9367114" y="352044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9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34" name="Shape 28"/>
          <p:cNvSpPr/>
          <p:nvPr/>
        </p:nvSpPr>
        <p:spPr>
          <a:xfrm>
            <a:off x="9714586" y="1783080"/>
            <a:ext cx="1925726" cy="3931920"/>
          </a:xfrm>
          <a:prstGeom prst="roundRect">
            <a:avLst>
              <a:gd name="adj" fmla="val 4748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9897466" y="1965960"/>
            <a:ext cx="502920" cy="50292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3196" y="2091690"/>
            <a:ext cx="251460" cy="25146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109167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897466" y="2651760"/>
            <a:ext cx="1559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and risk</a:t>
            </a:r>
            <a:endParaRPr lang="en-US" sz="1400" dirty="0"/>
          </a:p>
        </p:txBody>
      </p:sp>
      <p:sp>
        <p:nvSpPr>
          <p:cNvPr id="39" name="Text 32"/>
          <p:cNvSpPr txBox="1"/>
          <p:nvPr/>
        </p:nvSpPr>
        <p:spPr>
          <a:xfrm>
            <a:off x="9897466" y="3429000"/>
            <a:ext cx="155996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Chargebacks worked under network rules; per-station reserves and velocity limits protect the bank's exposure.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Partners LLC · Sponsor-bank briefing · September 2026 · Confidential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of responsibilities between Wallet Partners LLC and the sponsoring bank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114800"/>
                <a:gridCol w="40507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Wallet Partners LLC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Sponsoring bank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Card-network membership and BINs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 membership; registers Wallet Partners as payment facilitator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 prospecting and sales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Owns pipeline and station relationships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 KYC/KYB and underwriting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Collects documents, screens owners and sanctions lists, prepares 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Approves, conditions or declines each merchant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Terminals and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Supplies certified EMV/contactless terminals; installs and supports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Certifies terminal and gateway on its host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to the station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Sets per-gallon pricing within approved parameters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Approves pricing floors and interchange pass-through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 stations next day from program account; maintains reserves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Settles network funds into program account; controls the account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monitoring and AML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First-line monitoring, alerts, escalation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Second-line review; regulatory reporting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Disputes and chargebacks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Representment and merchant recovery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Network-facing dispute processing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 DSS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compliance; P2PE terminals, no cardholder data stored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Validates Wallet Partners as service provider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and oversight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access, monthly reporting, right-to-audit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Periodic reviews; can suspend merchants or program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Partners LLC · Sponsor-bank briefing · September 2026 · Confidential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station gets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built around gallons, forecourts and night shifts</a:t>
            </a:r>
            <a:endParaRPr lang="en-US" sz="1400" dirty="0"/>
          </a:p>
        </p:txBody>
      </p:sp>
      <p:pic>
        <p:nvPicPr>
          <p:cNvPr id="6" name="Image 0" descr="/home/user/Family-Pharmacy/site/assets/img/pos-t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4023360" cy="22631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023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image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846320" y="1783080"/>
            <a:ext cx="457200" cy="45720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189738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40680" y="17373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Per-gallon pricing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5440680" y="2084832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in pesos per gallon with a cap; interchange-plus statements the owner can check against the weekly MICM notice.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8366760" y="1783080"/>
            <a:ext cx="457200" cy="45720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189738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961120" y="17373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 pesos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8961120" y="2084832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next business day, per station, with shift-level reconciliation; less cash on 24-hour sites.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846320" y="3246120"/>
            <a:ext cx="457200" cy="45720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620" y="3360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40680" y="32004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Forecourt-ready terminals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5440680" y="3547872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Rugged wireless EMV/contactless, pre-auth and completion, Spanish prompts, pump-controller integration where supported.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8366760" y="3246120"/>
            <a:ext cx="457200" cy="45720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1060" y="3360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961120" y="32004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dashboard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8961120" y="3547872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pump, shift and product; card mix; chargebacks; statements formatted for the accountant and DGII.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4846320" y="4709160"/>
            <a:ext cx="457200" cy="45720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0620" y="4823460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440680" y="46634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and dispute desk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5440680" y="5010912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limits per pump and card, EMV liability-shift compliance, disputes worked on the station's behalf.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8366760" y="4709160"/>
            <a:ext cx="457200" cy="45720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1060" y="4823460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8961120" y="46634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and loyalty ready</a:t>
            </a:r>
            <a:endParaRPr lang="en-US" sz="1300" dirty="0"/>
          </a:p>
        </p:txBody>
      </p:sp>
      <p:sp>
        <p:nvSpPr>
          <p:cNvPr id="31" name="Text 22"/>
          <p:cNvSpPr txBox="1"/>
          <p:nvPr/>
        </p:nvSpPr>
        <p:spPr>
          <a:xfrm>
            <a:off x="8961120" y="5010912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two adds fleet-card acceptance and station loyalty, with issuing and co-brand upside for the bank.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Partners LLC · Sponsor-bank briefing · September 2026 · Confidential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launch cohort could represent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scenarios, not a forecast. Assumptions are editable in the website calculator.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3736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737360"/>
          <a:ext cx="46908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25880"/>
                <a:gridCol w="1325880"/>
                <a:gridCol w="85039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volume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MDR @1.95%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equiv.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stations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RD$396 MM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RD$7.7 MM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US$125 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stations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RD$792 MM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RD$15.4 MM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US$249 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stations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RD$1,584 MM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RD$30.9 MM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US$498 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949440" y="3429000"/>
            <a:ext cx="469087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Assumptions. </a:t>
            </a:r>
            <a:pPr indent="0" marL="0">
              <a:buNone/>
            </a:pPr>
            <a:r>
              <a:rPr lang="en-US" sz="10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volume per station RD$3.3 MM per month, the national average implied by RD$41 bn a year across about 1,025 stations; Polígono Central sites are expected to run above it. Effective MDR 1.95% (the low end of today's range). Exchange rate RD$62 per US$. Interchange, network fees, terminal costs and the bank's share are not deducted; the revenue split is a negotiation item.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Partners LLC · Sponsor-bank briefing · September 2026 · Confidential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framework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the standard a sponsoring bank's second line will require; validated before the first live transaction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80594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43000" y="1691640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Dominican Republic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286000"/>
            <a:ext cx="54223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183-02 and the Monetary Board's Payment Systems Regulation (SIPARD, amended Aug 2025); BCRD oversight, Superintendencia de Bancos supervision of the sponsor.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155-17 AML/CFT: merchant due diligence, beneficial owners at 10%+, monitoring, 5–10 year record-keeping, STRs through the bank to the UAF.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172-13 data protection; Law 358-05 consumer protection (Pro Consumidor).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DGII card-withholding rules (Norma 08-04 and successors) reconciled with the fuel tax regime (Laws 112-00 / 557-05); parameters confirmed with the bank and tax counsel.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stations with a valid MICM operating resolution are eligible.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17920" y="1691640"/>
            <a:ext cx="457200" cy="45720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220" y="180594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12280" y="1691640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 and international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217920" y="2286000"/>
            <a:ext cx="54223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BSA/AML programme aligned with the sponsor; FinCEN registration where applicable; OFAC and sanctions screening of all merchants and owners.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Core Rules and Mastercard Rules for payment facilitators; MCC 5541/5542; AFD authorisation and completion rules; MATCH checks.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 v4.0 as a Level 1 service provider; P2PE terminals; no PAN, track or CVV stored.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security: segmented cloud, encryption at rest, dual-control keys, MFA, central logging, annual pen test, incident-response plan with agreed notification timelines.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compliance officer, board-approved policies, annual independent review, staff training, contractual right-to-audit for the bank.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Partners LLC · Sponsor-bank briefing · September 2026 · Confidential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sponsorship to live stations in one quarter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go-live inside the Polígono Central, then expansion on the same playbook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567178" cy="3840480"/>
          </a:xfrm>
          <a:prstGeom prst="roundRect">
            <a:avLst>
              <a:gd name="adj" fmla="val 3562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057400"/>
            <a:ext cx="1515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743200"/>
            <a:ext cx="210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set-up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29184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 agreement; payment-facilitator registration; gateway and terminal certification on the bank's host; program account and reserve structure.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90138" y="1828800"/>
            <a:ext cx="2567178" cy="3840480"/>
          </a:xfrm>
          <a:prstGeom prst="roundRect">
            <a:avLst>
              <a:gd name="adj" fmla="val 3562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8738" y="2057400"/>
            <a:ext cx="502920" cy="50292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1873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258818" y="2057400"/>
            <a:ext cx="1515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3–8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18738" y="2743200"/>
            <a:ext cx="210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underwriting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618738" y="329184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review of the 20 pipeline files; site surveys; connectivity checks; terminal provisioning.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31636" y="1828800"/>
            <a:ext cx="2567178" cy="3840480"/>
          </a:xfrm>
          <a:prstGeom prst="roundRect">
            <a:avLst>
              <a:gd name="adj" fmla="val 3562"/>
            </a:avLst>
          </a:prstGeom>
          <a:solidFill>
            <a:srgbClr val="F4F6F9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60236" y="2057400"/>
            <a:ext cx="502920" cy="50292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0236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00316" y="2057400"/>
            <a:ext cx="1515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8–12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60236" y="2743200"/>
            <a:ext cx="210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go-live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60236" y="329184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stations inside the polygon in wave one, then the remaining fifteen in two waves. Daily settlement and monitoring from the first transaction.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73134" y="1828800"/>
            <a:ext cx="2567178" cy="3840480"/>
          </a:xfrm>
          <a:prstGeom prst="roundRect">
            <a:avLst>
              <a:gd name="adj" fmla="val 3562"/>
            </a:avLst>
          </a:prstGeom>
          <a:solidFill>
            <a:srgbClr val="0F2440"/>
          </a:solidFill>
          <a:ln w="9525">
            <a:solidFill>
              <a:srgbClr val="0F24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01734" y="2057400"/>
            <a:ext cx="502920" cy="50292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301734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941814" y="2057400"/>
            <a:ext cx="1515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2+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301734" y="2743200"/>
            <a:ext cx="210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301734" y="329184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FE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of Distrito Nacional and Santiago; fleet cards; pricing review with the bank against actual interchange.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sponsorship agreement, then one merchant file at a time.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6217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FE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and Mastercard acquiring membership in the DR, or a correspondent arrangement permitting program sponsorship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FE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of Wallet Partners LLC as payment facilitator / program manager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FE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settlement account with agreed reserve and release terms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FE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Merchant-approval SLA of ten business days per file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FE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relationship contact and a compliance contact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0" y="914400"/>
            <a:ext cx="4325112" cy="4937760"/>
          </a:xfrm>
          <a:prstGeom prst="roundRect">
            <a:avLst>
              <a:gd name="adj" fmla="val 2114"/>
            </a:avLst>
          </a:prstGeom>
          <a:solidFill>
            <a:srgbClr val="163558"/>
          </a:solidFill>
          <a:ln w="12700">
            <a:solidFill>
              <a:srgbClr val="1635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0" y="1143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next steps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173736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FE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and exchange of the document set (AML programme, underwriting policy, PCI plan, reserve model)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FE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session with merchant-acquiring and compliance teams, in English or Spanish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FE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review of three sample merchant files from the cohort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FE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term sheet within 30 days of the working session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FE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first live station within one quarter of signature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5166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info@walletpartnersllc.com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Partners LLC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Partners LLC · Sponsor-bank briefing · September 2026 · Confidential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sources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market figures quoted as published; links current as of 8 September 2026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548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Listín Diario, 30 Jun 2026 — Dueños de estaciones de combustible retirarán uso verifone para pago automático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 Libre, 2 Jul 2026 — RD se suma a los países donde las gasolineras pelean con la banca por comisiones de tarjetas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 Libre, 5 Jul 2026 — Anadegas iniciará este lunes el retiro de verifones en más de 780 estaciones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 Libre, 6 Jul 2026 — La amenaza de retirar los verifones: ¿en qué consiste el conflicto entre Anadegas y la banca?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 Libre, 7 Jul 2026 — Anadegas acuerda plazo de 30 días para solucionar conflicto por pagos con tarjetas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Infobae, 8 Jul 2026 — Plazo de 30 días en República Dominicana para resolver uso de tarjetas en gasolineras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 Libre, 8 Jul 2026 — Pagos con tarjetas en estaciones de combustibles suma RD$41,000 MM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 Libre, 20 Jul 2026 — Anadegas y la banca iniciarán diálogo sobre comisión de verifones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Nuevo Diario, 2026 — Anadegas retirará lectores de tarjetas (≈1,025 stations nationwide)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elDinero — Pagos con tarjetas de crédito y débito en RD (BCRD: 117 M transactions in 2008, 806 M in 2025)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691640"/>
            <a:ext cx="54223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Invertix — Sistema de Pago y Liquidación de Valores al cierre del 2025 (BCRD: RD$1,072.5 bn, +12.8%, 63.6% share)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Infobae, 25 Apr 2026 — Cuentas de pago electrónicas +31.3% (BCRD Q1 2026 bulletin: cards and POS per capita)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Central de la República Dominicana — Boletín de Estadísticas de Sistemas de Pago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 Libre, 4 Dec 2025 — El 75 % de los pagos de los dominicanos son en efectivo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Mastercard, May 2026 — Estudio sobre el punto de inflexión de los pagos digitales en RD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MICM — Avisos semanales de precios de combustibles (2025 prices)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EHPLUS+ — MICM aprobó 33 estaciones y envasadoras entre 2024 y octubre de 2025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MICM — Datos abiertos: registro de estaciones de combustible 2023–2026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ITA — Dominican Republic Country Commercial Guide: eCommerce (Cardnet, Visanet, Azul)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list: Google Maps search "gasolinera", 8 Sep 2026, 20 nearest to 18.4690, -69.9295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Wallet Partners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Wallet Partners LLC — Fuel-retail acquiring program, Dominican Republic</dc:title>
  <dc:subject>PptxGenJS Presentation</dc:subject>
  <dc:creator>Wallet Partners LLC</dc:creator>
  <cp:lastModifiedBy>Wallet Partners LLC</cp:lastModifiedBy>
  <cp:revision>1</cp:revision>
  <dcterms:created xsi:type="dcterms:W3CDTF">2026-09-08T17:13:51Z</dcterms:created>
  <dcterms:modified xsi:type="dcterms:W3CDTF">2026-09-08T17:13:51Z</dcterms:modified>
</cp:coreProperties>
</file>